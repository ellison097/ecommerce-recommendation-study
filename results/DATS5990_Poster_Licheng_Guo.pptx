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00" cy="32918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0" cy="2331720"/>
          </a:xfrm>
          <a:prstGeom prst="rect">
            <a:avLst/>
          </a:prstGeom>
          <a:solidFill>
            <a:srgbClr val="0F203E"/>
          </a:solidFill>
          <a:ln>
            <a:solidFill>
              <a:srgbClr val="0F2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5270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 Systematic Study of Recommendation Algorithms for E-commerce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Licheng Guo  ·  DATS5990 Independent Study  ·  University of Pennsylvania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0" y="310896"/>
            <a:ext cx="6949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</a:rPr>
              <a:t>Real e-commerce dataset + three-stage recommender benchmark + academic poster redesign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6766560" cy="2697480"/>
          </a:xfrm>
          <a:prstGeom prst="roundRect">
            <a:avLst/>
          </a:prstGeom>
          <a:solidFill>
            <a:srgbClr val="F8FBFF"/>
          </a:solidFill>
          <a:ln w="17780">
            <a:solidFill>
              <a:srgbClr val="20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743200"/>
            <a:ext cx="6437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0639B"/>
                </a:solidFill>
              </a:rPr>
              <a:t>Research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54680"/>
            <a:ext cx="6492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203E"/>
                </a:solidFill>
              </a:defRPr>
            </a:pPr>
            <a:r>
              <a:t>E-commerce platforms require recommenders that balance ranking quality, product coverage, diversity, and fairness.</a:t>
            </a:r>
          </a:p>
          <a:p>
            <a:pPr>
              <a:defRPr sz="1800">
                <a:solidFill>
                  <a:srgbClr val="0F203E"/>
                </a:solidFill>
              </a:defRPr>
            </a:pPr>
            <a:r>
              <a:t>Purely accuracy-oriented methods often overexpose head products and under-serve the long tail.</a:t>
            </a:r>
          </a:p>
          <a:p>
            <a:pPr>
              <a:defRPr sz="1800">
                <a:solidFill>
                  <a:srgbClr val="0F203E"/>
                </a:solidFill>
              </a:defRPr>
            </a:pPr>
            <a:r>
              <a:t>This project studies whether hybrid and fairness-aware methods improve practical recommendation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51760"/>
            <a:ext cx="6766560" cy="2697480"/>
          </a:xfrm>
          <a:prstGeom prst="roundRect">
            <a:avLst/>
          </a:prstGeom>
          <a:solidFill>
            <a:srgbClr val="F8FBFF"/>
          </a:solidFill>
          <a:ln w="17780">
            <a:solidFill>
              <a:srgbClr val="20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08392" y="2743200"/>
            <a:ext cx="6437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0639B"/>
                </a:solidFill>
              </a:rPr>
              <a:t>Dataset and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154680"/>
            <a:ext cx="6492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203E"/>
                </a:solidFill>
              </a:defRPr>
            </a:pPr>
            <a:r>
              <a:t>Dataset: UCI Online Retail, a transactional e-commerce dataset with customers, stock codes, timestamps, and product descriptions.</a:t>
            </a:r>
          </a:p>
          <a:p>
            <a:pPr>
              <a:defRPr sz="1800">
                <a:solidFill>
                  <a:srgbClr val="0F203E"/>
                </a:solidFill>
              </a:defRPr>
            </a:pPr>
            <a:r>
              <a:t>Users with at least 5 interactions and items with at least 5 purchases were retained.</a:t>
            </a:r>
          </a:p>
          <a:p>
            <a:pPr>
              <a:defRPr sz="1800">
                <a:solidFill>
                  <a:srgbClr val="0F203E"/>
                </a:solidFill>
              </a:defRPr>
            </a:pPr>
            <a:r>
              <a:t>Evaluation uses chronological train/validation/test splitting and Top-K ranking metrics.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538960" y="2651760"/>
            <a:ext cx="6812280" cy="2697480"/>
          </a:xfrm>
          <a:prstGeom prst="roundRect">
            <a:avLst/>
          </a:prstGeom>
          <a:solidFill>
            <a:srgbClr val="FFF9FA"/>
          </a:solidFill>
          <a:ln w="17780">
            <a:solidFill>
              <a:srgbClr val="DC4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703552" y="2743200"/>
            <a:ext cx="6483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DC4C64"/>
                </a:solidFill>
              </a:rPr>
              <a:t>Main Contributions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03552" y="3154680"/>
            <a:ext cx="6537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203E"/>
                </a:solidFill>
              </a:defRPr>
            </a:pPr>
            <a:r>
              <a:t>Unified pipeline for baseline, neural, and hybrid recommenders.</a:t>
            </a:r>
          </a:p>
          <a:p>
            <a:pPr>
              <a:defRPr sz="1800">
                <a:solidFill>
                  <a:srgbClr val="0F203E"/>
                </a:solidFill>
              </a:defRPr>
            </a:pPr>
            <a:r>
              <a:t>Switched from movie benchmark to a true product-level e-commerce dataset.</a:t>
            </a:r>
          </a:p>
          <a:p>
            <a:pPr>
              <a:defRPr sz="1800">
                <a:solidFill>
                  <a:srgbClr val="0F203E"/>
                </a:solidFill>
              </a:defRPr>
            </a:pPr>
            <a:r>
              <a:t>Poster integrates model architectures, empirical results, and deployment-oriented interpretation.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23560"/>
            <a:ext cx="20802600" cy="2834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715000"/>
            <a:ext cx="20473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0639B"/>
                </a:solidFill>
              </a:rPr>
              <a:t>Overall Research Pipeline</a:t>
            </a:r>
          </a:p>
        </p:txBody>
      </p:sp>
      <p:pic>
        <p:nvPicPr>
          <p:cNvPr id="18" name="Picture 17" descr="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217920"/>
            <a:ext cx="20025360" cy="571109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48640" y="8732520"/>
            <a:ext cx="6629400" cy="5760720"/>
          </a:xfrm>
          <a:prstGeom prst="roundRect">
            <a:avLst/>
          </a:prstGeom>
          <a:solidFill>
            <a:srgbClr val="FFFBF5"/>
          </a:solidFill>
          <a:ln w="1778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8823960"/>
            <a:ext cx="6300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5A623"/>
                </a:solidFill>
              </a:rPr>
              <a:t>Phase I — Classical Baselines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9281160"/>
            <a:ext cx="6217920" cy="4983480"/>
          </a:xfrm>
          <a:prstGeom prst="roundRect">
            <a:avLst/>
          </a:prstGeom>
          <a:solidFill>
            <a:srgbClr val="FFFBF5"/>
          </a:solidFill>
          <a:ln w="1778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9372600"/>
            <a:ext cx="5888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</a:rPr>
              <a:t>Included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978408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203E"/>
                </a:solidFill>
              </a:defRPr>
            </a:pPr>
            <a:r>
              <a:t>Popularity ranking</a:t>
            </a:r>
          </a:p>
          <a:p>
            <a:pPr>
              <a:defRPr sz="1800">
                <a:solidFill>
                  <a:srgbClr val="0F203E"/>
                </a:solidFill>
              </a:defRPr>
            </a:pPr>
            <a:r>
              <a:t>User-based collaborative filtering</a:t>
            </a:r>
          </a:p>
          <a:p>
            <a:pPr>
              <a:defRPr sz="1800">
                <a:solidFill>
                  <a:srgbClr val="0F203E"/>
                </a:solidFill>
              </a:defRPr>
            </a:pPr>
            <a:r>
              <a:t>Item-based collaborative filtering</a:t>
            </a:r>
          </a:p>
          <a:p>
            <a:pPr>
              <a:defRPr sz="1800">
                <a:solidFill>
                  <a:srgbClr val="0F203E"/>
                </a:solidFill>
              </a:defRPr>
            </a:pPr>
            <a:r>
              <a:t>Matrix factorization via truncated SVD</a:t>
            </a:r>
          </a:p>
          <a:p>
            <a:pPr>
              <a:defRPr sz="1800">
                <a:solidFill>
                  <a:srgbClr val="0F203E"/>
                </a:solidFill>
              </a:defRPr>
            </a:pPr>
            <a:r>
              <a:t>Role: establish interpretable and competitive baselines for offline ranking.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8732520"/>
            <a:ext cx="6629400" cy="5760720"/>
          </a:xfrm>
          <a:prstGeom prst="roundRect">
            <a:avLst/>
          </a:prstGeom>
          <a:solidFill>
            <a:srgbClr val="F5FFF7"/>
          </a:solidFill>
          <a:ln w="1778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71232" y="8823960"/>
            <a:ext cx="6300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ECC71"/>
                </a:solidFill>
              </a:rPr>
              <a:t>Phase II — Neural Modeling</a:t>
            </a:r>
          </a:p>
        </p:txBody>
      </p:sp>
      <p:pic>
        <p:nvPicPr>
          <p:cNvPr id="26" name="Picture 25" descr="ncf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9281160"/>
            <a:ext cx="6217920" cy="273341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26679" y="12938760"/>
            <a:ext cx="5989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15C6F"/>
                </a:solidFill>
              </a:rPr>
              <a:t>NCF learns nonlinear user–item interactions using embedding layers followed by an MLP scoring network.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264640" y="8732520"/>
            <a:ext cx="7086600" cy="5760720"/>
          </a:xfrm>
          <a:prstGeom prst="roundRect">
            <a:avLst/>
          </a:prstGeom>
          <a:solidFill>
            <a:srgbClr val="FBF7FF"/>
          </a:solidFill>
          <a:ln w="1778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429232" y="8823960"/>
            <a:ext cx="6757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8E44AD"/>
                </a:solidFill>
              </a:rPr>
              <a:t>Phase III — Hybrid + Fairness-aware Optimization</a:t>
            </a:r>
          </a:p>
        </p:txBody>
      </p:sp>
      <p:pic>
        <p:nvPicPr>
          <p:cNvPr id="30" name="Picture 29" descr="hybrid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8960" y="9253728"/>
            <a:ext cx="6492240" cy="299684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630400" y="12938760"/>
            <a:ext cx="63550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15C6F"/>
                </a:solidFill>
              </a:rPr>
              <a:t>Hybrid ranking combines collaborative and content signals, then applies reranking to improve long-tail exposure and recommendation diversity.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14813280"/>
            <a:ext cx="10195560" cy="5623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14904720"/>
            <a:ext cx="9866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0639B"/>
                </a:solidFill>
              </a:rPr>
              <a:t>Quantitative Results: Accuracy Metrics</a:t>
            </a:r>
          </a:p>
        </p:txBody>
      </p:sp>
      <p:pic>
        <p:nvPicPr>
          <p:cNvPr id="34" name="Picture 33" descr="accuracy_metr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15499080"/>
            <a:ext cx="9646920" cy="4911159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1018520" y="14813280"/>
            <a:ext cx="10332720" cy="5623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83112" y="14904720"/>
            <a:ext cx="10003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0639B"/>
                </a:solidFill>
              </a:rPr>
              <a:t>Quantitative Results: Trade-off Metrics</a:t>
            </a:r>
          </a:p>
        </p:txBody>
      </p:sp>
      <p:pic>
        <p:nvPicPr>
          <p:cNvPr id="37" name="Picture 36" descr="tradeoff_metr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92840" y="15499080"/>
            <a:ext cx="9784080" cy="4980986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548640" y="20711160"/>
            <a:ext cx="7680960" cy="4754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20802600"/>
            <a:ext cx="7351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0639B"/>
                </a:solidFill>
              </a:rPr>
              <a:t>Ranking Summary</a:t>
            </a:r>
          </a:p>
        </p:txBody>
      </p:sp>
      <p:pic>
        <p:nvPicPr>
          <p:cNvPr id="40" name="Picture 39" descr="ranking_ndc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21351240"/>
            <a:ext cx="6949440" cy="5038344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503920" y="20711160"/>
            <a:ext cx="6400800" cy="4754880"/>
          </a:xfrm>
          <a:prstGeom prst="roundRect">
            <a:avLst/>
          </a:prstGeom>
          <a:solidFill>
            <a:srgbClr val="FFF9FA"/>
          </a:solidFill>
          <a:ln w="17780">
            <a:solidFill>
              <a:srgbClr val="DC4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68512" y="20802600"/>
            <a:ext cx="60716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DC4C64"/>
                </a:solidFill>
              </a:rPr>
              <a:t>Key Empirical Findings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68512" y="21214080"/>
            <a:ext cx="61264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203E"/>
                </a:solidFill>
              </a:defRPr>
            </a:pPr>
            <a:r>
              <a:t>Best ranking accuracy: Hybrid (NDCG@10 = 0.068).</a:t>
            </a:r>
          </a:p>
          <a:p>
            <a:pPr>
              <a:defRPr sz="1800">
                <a:solidFill>
                  <a:srgbClr val="0F203E"/>
                </a:solidFill>
              </a:defRPr>
            </a:pPr>
            <a:r>
              <a:t>Best coverage: Hybrid (Coverage = 0.527).</a:t>
            </a:r>
          </a:p>
          <a:p>
            <a:pPr>
              <a:defRPr sz="1800">
                <a:solidFill>
                  <a:srgbClr val="0F203E"/>
                </a:solidFill>
              </a:defRPr>
            </a:pPr>
            <a:r>
              <a:t>Best diversity: Hybrid (Diversity = 0.095).</a:t>
            </a:r>
          </a:p>
          <a:p>
            <a:pPr>
              <a:defRPr sz="1800">
                <a:solidFill>
                  <a:srgbClr val="0F203E"/>
                </a:solidFill>
              </a:defRPr>
            </a:pPr>
            <a:r>
              <a:t>Hybrid recommendation offers the strongest overall balance across ranking quality, catalog coverage, and diversity.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133320" y="20711160"/>
            <a:ext cx="6217920" cy="4754880"/>
          </a:xfrm>
          <a:prstGeom prst="roundRect">
            <a:avLst/>
          </a:prstGeom>
          <a:solidFill>
            <a:srgbClr val="FBF7FF"/>
          </a:solidFill>
          <a:ln w="1778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297912" y="20802600"/>
            <a:ext cx="5888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8E44AD"/>
                </a:solidFill>
              </a:rPr>
              <a:t>Interpretation for E-commerce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97912" y="21214080"/>
            <a:ext cx="59436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203E"/>
                </a:solidFill>
              </a:defRPr>
            </a:pPr>
            <a:r>
              <a:t>Neighborhood and factorization methods remain strong on sparse transactional data.</a:t>
            </a:r>
          </a:p>
          <a:p>
            <a:pPr>
              <a:defRPr sz="1800">
                <a:solidFill>
                  <a:srgbClr val="0F203E"/>
                </a:solidFill>
              </a:defRPr>
            </a:pPr>
            <a:r>
              <a:t>Neural models are feasible, but are not automatically superior without richer features or sequence signals.</a:t>
            </a:r>
          </a:p>
          <a:p>
            <a:pPr>
              <a:defRPr sz="1800">
                <a:solidFill>
                  <a:srgbClr val="0F203E"/>
                </a:solidFill>
              </a:defRPr>
            </a:pPr>
            <a:r>
              <a:t>Hybrid reranking is attractive for deployment because it broadens product exposure while preserving accuracy.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25740360"/>
            <a:ext cx="20802600" cy="3794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0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25831800"/>
            <a:ext cx="20473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0639B"/>
                </a:solidFill>
              </a:rPr>
              <a:t>Metric Table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822960" y="26471880"/>
          <a:ext cx="1668780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48840"/>
                <a:gridCol w="2011680"/>
                <a:gridCol w="1965960"/>
                <a:gridCol w="1920240"/>
                <a:gridCol w="1920240"/>
                <a:gridCol w="1920240"/>
                <a:gridCol w="2240280"/>
              </a:tblGrid>
              <a:tr h="38535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Precision@10</a:t>
                      </a:r>
                    </a:p>
                  </a:txBody>
                  <a:tcPr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Recall@10</a:t>
                      </a:r>
                    </a:p>
                  </a:txBody>
                  <a:tcPr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NDCG@10</a:t>
                      </a:r>
                    </a:p>
                  </a:txBody>
                  <a:tcPr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MAP@10</a:t>
                      </a:r>
                    </a:p>
                  </a:txBody>
                  <a:tcPr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Coverage</a:t>
                      </a:r>
                    </a:p>
                  </a:txBody>
                  <a:tcPr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Diversity</a:t>
                      </a:r>
                    </a:p>
                  </a:txBody>
                  <a:tcPr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Fairness Gap</a:t>
                      </a:r>
                    </a:p>
                  </a:txBody>
                  <a:tcPr>
                    <a:solidFill>
                      <a:srgbClr val="0F203E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Hybrid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0.047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0.063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0.068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0.033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0.527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0.095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0.867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MF (SVD)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User CF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0.035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0.054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0.059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0.031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0.099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NCF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0.955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Item CF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0.033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0.046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0.051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0.025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0.352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0.075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0.898</a:t>
                      </a:r>
                    </a:p>
                  </a:txBody>
                  <a:tcPr>
                    <a:solidFill>
                      <a:srgbClr val="F8FBFF"/>
                    </a:solidFill>
                  </a:tcPr>
                </a:tc>
              </a:tr>
              <a:tr h="3853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Popularity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203E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Rounded Rectangle 49"/>
          <p:cNvSpPr/>
          <p:nvPr/>
        </p:nvSpPr>
        <p:spPr>
          <a:xfrm>
            <a:off x="548640" y="29809440"/>
            <a:ext cx="9966960" cy="2331720"/>
          </a:xfrm>
          <a:prstGeom prst="roundRect">
            <a:avLst/>
          </a:prstGeom>
          <a:solidFill>
            <a:srgbClr val="F8FBFF"/>
          </a:solidFill>
          <a:ln w="17780">
            <a:solidFill>
              <a:srgbClr val="20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29900880"/>
            <a:ext cx="96377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0639B"/>
                </a:solidFill>
              </a:rPr>
              <a:t>Conclusion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30312360"/>
            <a:ext cx="9692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203E"/>
                </a:solidFill>
              </a:defRPr>
            </a:pPr>
            <a:r>
              <a:t>Using a real e-commerce dataset changes the framing from generic recommendation to product-level retail recommendation.</a:t>
            </a:r>
          </a:p>
          <a:p>
            <a:pPr>
              <a:defRPr sz="1800">
                <a:solidFill>
                  <a:srgbClr val="0F203E"/>
                </a:solidFill>
              </a:defRPr>
            </a:pPr>
            <a:r>
              <a:t>The hybrid model achieved the best overall balance, especially for catalog coverage and diversity.</a:t>
            </a:r>
          </a:p>
          <a:p>
            <a:pPr>
              <a:defRPr sz="1800">
                <a:solidFill>
                  <a:srgbClr val="0F203E"/>
                </a:solidFill>
              </a:defRPr>
            </a:pPr>
            <a:r>
              <a:t>This supports the argument that practical recommender systems should optimize more than accuracy alone.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789920" y="29809440"/>
            <a:ext cx="10561320" cy="2331720"/>
          </a:xfrm>
          <a:prstGeom prst="roundRect">
            <a:avLst/>
          </a:prstGeom>
          <a:solidFill>
            <a:srgbClr val="FBF7FF"/>
          </a:solidFill>
          <a:ln w="1778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54512" y="29900880"/>
            <a:ext cx="10232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8E44AD"/>
                </a:solidFill>
              </a:rPr>
              <a:t>Future Directions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54512" y="30312360"/>
            <a:ext cx="10287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203E"/>
                </a:solidFill>
              </a:defRPr>
            </a:pPr>
            <a:r>
              <a:t>Add sequential models such as GRU4Rec or Transformer recommenders.</a:t>
            </a:r>
          </a:p>
          <a:p>
            <a:pPr>
              <a:defRPr sz="1800">
                <a:solidFill>
                  <a:srgbClr val="0F203E"/>
                </a:solidFill>
              </a:defRPr>
            </a:pPr>
            <a:r>
              <a:t>Integrate richer product attributes and user history features.</a:t>
            </a:r>
          </a:p>
          <a:p>
            <a:pPr>
              <a:defRPr sz="1800">
                <a:solidFill>
                  <a:srgbClr val="0F203E"/>
                </a:solidFill>
              </a:defRPr>
            </a:pPr>
            <a:r>
              <a:t>Extend fairness analysis to seller exposure, category fairness, and cold-start product promotion.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32324040"/>
            <a:ext cx="2011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15C6F"/>
                </a:solidFill>
              </a:rPr>
              <a:t>Poster regenerated from the updated Online Retail e-commerce experiment pipeline. Layout intentionally styled closer to academic conference posters with architecture diagrams and enlarged typography.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